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Volwassenheid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Sheet1!$A$2:$A$4</c:f>
              <c:strCache>
                <c:ptCount val="3"/>
                <c:pt idx="0">
                  <c:v>Q1 2026</c:v>
                </c:pt>
                <c:pt idx="1">
                  <c:v>Q2 2026 (nu)</c:v>
                </c:pt>
                <c:pt idx="2">
                  <c:v>Doel Q4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</c:v>
                </c:pt>
                <c:pt idx="1">
                  <c:v>0.62</c:v>
                </c:pt>
                <c:pt idx="2">
                  <c:v>0.9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Vervang het logovak rechtsboven door uw logo en pas bedrijfsnaam/periode aan. Open met: "Goedemiddag, dit is de NIS2-statusrapportage over Q2 2026. Ik neem u mee langs onze weerbaarheid, de grootste risico's en de besluiten die ik u vraag te nemen."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 leeswijzer — verwijder deze slide vóór de bestuursvergadering of houd hem als bijlage. Het Excel-werkboek is de bron; deze deck is de presentatielaag.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de agenda in 30 seconden langs. Benadruk dat slide 1 (samenvatting) de besluiten bevat; de rest is onderbouwing.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 is dé slide. Lees de drie boodschappen voor en ga direct naar het gevraagde besluit. Bron van de cijfers: Gap-Analyse (dashboard %), Risicoregister, Incidentenlog.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Vertel het verhaal van vooruitgang: +14 punten dit kwartaal, maar nog 28 te gaan naar het doel van 90%. Koppel de stijging aan concrete maatregelen (MFA, back-up).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op de Rode en Amberen. Hier: M7 (documentatie) is Rood — leg uit waarom en wat het actieplan doet.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top-4 uit het Risicoregister (hoogste W×I). R-01 (ransomware) is de prioriteit. Elk risico heeft een eigenaar en een behandeling — benadruk dat niets "onbeheerd"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zien dat de risico's niet uit de lucht komen: ze volgen uit het sectordreigingsbeeld. Verwijs naar de Dreigingscatalogus voor de onderbouwing.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Wees eerlijk over de gemiste 72-uurstermijn — bestuur wil weten dat we ervan leren. Koppel aan verbeterpunt in het actieplan.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Vertel het pad naar 90%: Q3 = afdwingen MFA + hersteltest; Q4 = leveranciers + dossier. Elke kaart heeft eigenaar en kosten.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Voor de CFO: het gros van de winst zit in goedkope quick wins. Zet het totaalbudget af tegen de kosten van een externe consultant en tegen de boete-/uitvalrisico's.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Vraag per punt expliciet om akkoord en laat het notuleren. Dit is wat NIS2 Art. 20 verwacht: aantoonbare goedkeuring door het bestuur.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Bijlage — laat zien dat de cijfers traceerbaar zijn naar de toolkit-onderdelen. Houd de disclaimer zichtbaar.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Sluit af met de genomen besluiten en de datum van de volgende review. Bedank het bestuur.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20000" y="720000"/>
            <a:ext cx="2340000" cy="93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0000" y="720000"/>
            <a:ext cx="2340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9CA3AF"/>
                </a:solidFill>
                <a:latin typeface="Calibri"/>
              </a:rPr>
              <a:t>⬚  Uw logo
(rechtsklik → Afbeelding wijzigen)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792000"/>
            <a:ext cx="72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Calibri"/>
              </a:rPr>
              <a:t>VERTROUWELIJK · BESTUURSVERGADERING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655999"/>
            <a:ext cx="79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NIS2 COMPLIANCE · BOARDRAPPORTAGE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1944000"/>
            <a:ext cx="936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1C1C2E"/>
                </a:solidFill>
                <a:latin typeface="Calibri"/>
              </a:rPr>
              <a:t>NIS2 Boardrapportage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772000"/>
            <a:ext cx="936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374151"/>
                </a:solidFill>
                <a:latin typeface="Calibri"/>
              </a:rPr>
              <a:t>Status, risico's en gevraagde besluiten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491999"/>
            <a:ext cx="936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C1C2E"/>
                </a:solidFill>
                <a:latin typeface="Calibri"/>
              </a:rPr>
              <a:t>Voorbeeld B.V.</a:t>
            </a:r>
            <a:r>
              <a:rPr sz="1700" b="0" i="0">
                <a:solidFill>
                  <a:srgbClr val="6B7280"/>
                </a:solidFill>
                <a:latin typeface="Calibri"/>
              </a:rPr>
              <a:t>   ·   Q2 2026   ·   30-06-2026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624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MKBTechGids · NIS2 Compliance Toolkit · KVK 27348456 · BTW NL004968309B61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LEESWIJZER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Hoe gebruikt u dit board-pack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080000"/>
            <a:ext cx="10980000" cy="252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Dit pack is vooraf ingevuld met een FICTIEF voorbeeld (Voorbeeld B.V.). Vervang alle cijfers door uw eigen gegevens.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Werk eerst het bijgeleverde Excel-werkboek bij — elk tabblad komt overeen met één slide hierna.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Kopieer per tabblad het tabelbereik en plak het in de bijbehorende slide (Plakken speciaal → afbeelding houdt de opmaak strak).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Logo: vervang het grijze logovak op de titelslide en rechtsboven elke slide (rechtsklik → Afbeelding wijzigen).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Spreeknotities: onder elke slide staat een suggestietekst (Beeld → Notities). Pas ze aan uw boodschap aan.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5803D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RAG-codering: ● Groen = op orde · ▲ Amber = aandacht · ■ Rood = actie vereist (kleur + symbool, ook leesbaar bij kleurenblindheid).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Wat bespreken we vandaag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18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118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999" y="115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Managementsamenvatting &amp; gevraagde besluiten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172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999" y="172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99" y="169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Compliance-volwassenheid en trend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26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226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999" y="223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Status per NIS2-domein (M1–M8)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80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280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99" y="277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Top-risico's en behandeling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999" y="334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99" y="334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99" y="331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Dreigingslandschap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3999" y="118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3999" y="118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999" y="115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Incidenten &amp; meldplicht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3999" y="172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3999" y="172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3999" y="169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Roadmap komend half jaar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3999" y="226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3999" y="226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3999" y="223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Investering &amp; ROI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3999" y="2808000"/>
            <a:ext cx="251999" cy="25199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3999" y="2808000"/>
            <a:ext cx="251999" cy="251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3999" y="2772000"/>
            <a:ext cx="48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Besluitvorming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MANAGEMENTSAMENVATTING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Kernboodschap &amp; gevraagde besluiten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2628000" cy="93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116000"/>
            <a:ext cx="23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D4ED8"/>
                </a:solidFill>
                <a:latin typeface="Calibri"/>
              </a:rPr>
              <a:t>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620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NIS2-volwassenheid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6000" y="1044000"/>
            <a:ext cx="2628000" cy="93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0000" y="1116000"/>
            <a:ext cx="23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DC2626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0000" y="1620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Open gaps — prioriteit Hoog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6000" y="1044000"/>
            <a:ext cx="2628000" cy="93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0" y="1116000"/>
            <a:ext cx="23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92400E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0" y="1620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Incidenten deze periode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66000" y="1044000"/>
            <a:ext cx="2628000" cy="93600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0000" y="1116000"/>
            <a:ext cx="23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15803D"/>
                </a:solidFill>
                <a:latin typeface="Calibri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0000" y="1620000"/>
            <a:ext cx="23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74151"/>
                </a:solidFill>
                <a:latin typeface="Calibri"/>
              </a:rPr>
              <a:t>Volgende directiereview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" y="2124000"/>
            <a:ext cx="108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C1C2E"/>
                </a:solidFill>
                <a:latin typeface="Calibri"/>
              </a:rPr>
              <a:t>Belangrijkste boodschappen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" y="2340000"/>
            <a:ext cx="10980000" cy="1007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Calibri"/>
              </a:rPr>
              <a:t>•  </a:t>
            </a:r>
            <a:r>
              <a:rPr sz="1350">
                <a:solidFill>
                  <a:srgbClr val="374151"/>
                </a:solidFill>
                <a:latin typeface="Calibri"/>
              </a:rPr>
              <a:t>Cyberweerbaarheid steeg dit kwartaal van 48% naar 62%; MFA en back-up zijn uitgerold.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Calibri"/>
              </a:rPr>
              <a:t>•  </a:t>
            </a:r>
            <a:r>
              <a:rPr sz="1350">
                <a:solidFill>
                  <a:srgbClr val="374151"/>
                </a:solidFill>
                <a:latin typeface="Calibri"/>
              </a:rPr>
              <a:t>Grootste resterende risico is ransomware via phishing (R-01); behandeling loopt, afronding Q3.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Calibri"/>
              </a:rPr>
              <a:t>•  </a:t>
            </a:r>
            <a:r>
              <a:rPr sz="1350">
                <a:solidFill>
                  <a:srgbClr val="374151"/>
                </a:solidFill>
                <a:latin typeface="Calibri"/>
              </a:rPr>
              <a:t>Bestuur wordt gevraagd €18.500 budget 2026 goed te keuren en restrisico R-04 te accepteren.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00" y="3420000"/>
            <a:ext cx="10980000" cy="46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3420000"/>
            <a:ext cx="10692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C1C2E"/>
                </a:solidFill>
                <a:latin typeface="Calibri"/>
              </a:rPr>
              <a:t>Gevraagd besluit: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goedkeuring maatregelen · vrijgave €18.500 budget 2026 · acceptatie restrisico R-04.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VOLWASSENHEID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Compliance-volwassenheid &amp;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152000"/>
            <a:ext cx="432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1D4ED8"/>
                </a:solidFill>
                <a:latin typeface="Calibri"/>
              </a:rP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2015999"/>
            <a:ext cx="468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Vorig kwartaal: 48%   (+14 pt)
</a:t>
            </a:r>
            <a:r>
              <a:rPr sz="1500" b="1" i="0">
                <a:solidFill>
                  <a:srgbClr val="15803D"/>
                </a:solidFill>
                <a:latin typeface="Calibri"/>
              </a:rPr>
              <a:t>Doel Q4 2026: 90%
</a:t>
            </a:r>
            <a:r>
              <a:rPr sz="1100" b="0" i="1">
                <a:solidFill>
                  <a:srgbClr val="6B7280"/>
                </a:solidFill>
                <a:latin typeface="Calibri"/>
              </a:rPr>
              <a:t>Bron: tabblad Dashboard van het werkboek (rekent automatisch uit de domeinstatus).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00000" y="1080000"/>
          <a:ext cx="5940000" cy="2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COMPLIANCE-STATUS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Status per NIS2-domein (M1–M8)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" y="1044000"/>
          <a:ext cx="10980000" cy="2656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0000"/>
                <a:gridCol w="5220000"/>
                <a:gridCol w="1980000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Domein / Module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Toelichting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M1 · Scope &amp; zelfevaluatie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Scope vastgesteld; belangrijke entiteit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M2 · Risicoanalyse + register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24 risico's gescoord, register actueel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M3 · Beveiligingsmaatregelen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MFA live; encryptie/segmentatie deels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M4 · Leveranciersbeveiliging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Top-10 leveranciers nog te beoordelen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M5 · Bedrijfscontinuïteit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Back-up aanwezig; hersteltest nog niet maandelijks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M6 · Medewerkers &amp; training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Training + phishing-simulatie gedaan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M7 · Documentatie &amp; logging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Compliancedossier onvolledig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DC2626"/>
                          </a:solidFill>
                          <a:latin typeface="Calibri"/>
                        </a:rPr>
                        <a:t>■ Rood</a:t>
                      </a:r>
                    </a:p>
                  </a:txBody>
                  <a:tcPr marL="64800" marR="43200" marT="21600" marB="21600" anchor="ctr">
                    <a:solidFill>
                      <a:srgbClr val="FEF2F2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M8 · Jaarlijkse review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Review gepland Q4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000" y="3851999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● Groen = op orde   ▲ Amber = aandacht   ■ Rood = actie vereist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RISICO-OVERZICHT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Top-risico's &amp; behandeling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" y="1044000"/>
          <a:ext cx="10980000" cy="20699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/>
                <a:gridCol w="3780000"/>
                <a:gridCol w="1440000"/>
                <a:gridCol w="2880000"/>
                <a:gridCol w="1080000"/>
                <a:gridCol w="720000"/>
              </a:tblGrid>
              <a:tr h="413999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Risico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Behandeling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Eigenaar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R-01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Ransomware via phishing legt operatie plat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4×5=20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MFA + EDR + geteste back-up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CISO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DC2626"/>
                          </a:solidFill>
                          <a:latin typeface="Calibri"/>
                        </a:rPr>
                        <a:t>■ Rood</a:t>
                      </a:r>
                    </a:p>
                  </a:txBody>
                  <a:tcPr marL="64800" marR="43200" marT="21600" marB="21600" anchor="ctr">
                    <a:solidFill>
                      <a:srgbClr val="FEF2F2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R-02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Compromittering kritieke leverancier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3×5=15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Leveranciersbeoordeling + eisen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Inkoop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R-03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Uitval kritiek systeem, geen geteste back-up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3×4=12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Maandelijkse hersteltest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IT-beheer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R-04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Datalek persoonsgegevens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2×4=8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Access reviews + DLP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CISO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DREIGINGSLANDSCHAP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Relevante dreigingen voor onze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" y="1044000"/>
          <a:ext cx="10980000" cy="19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0000"/>
                <a:gridCol w="4680000"/>
                <a:gridCol w="1980000"/>
                <a:gridCol w="1080000"/>
              </a:tblGrid>
              <a:tr h="39600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Dreiging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Toelichting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Gekoppeld risico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Ransomware / afpersing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Sectorbreed #1; via phishing en RDP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R-01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DC2626"/>
                          </a:solidFill>
                          <a:latin typeface="Calibri"/>
                        </a:rPr>
                        <a:t>■ Rood</a:t>
                      </a:r>
                    </a:p>
                  </a:txBody>
                  <a:tcPr marL="64800" marR="43200" marT="21600" marB="21600" anchor="ctr">
                    <a:solidFill>
                      <a:srgbClr val="FEF2F2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Supply-chain compromittering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Kwetsbare leverancier/dienst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R-02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Uitval &amp; continuïteit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Stroom, hardware, geen herstel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R-03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Datalek / ongeautoriseerde toegang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Verkeerde rechten, insider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R-04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000" y="3060000"/>
            <a:ext cx="109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Koppel deze dreigingen aan de sectorspecifieke Dreigingscatalogus (Energie / Transport / Zorg) en aan de top-risico's hierboven.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INCIDENTEN &amp; MELDPLICHT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Meldplicht-prestatie deze periode (Art. 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" y="1044000"/>
          <a:ext cx="10980000" cy="20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0"/>
                <a:gridCol w="3240000"/>
                <a:gridCol w="1980000"/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Deze periode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Significante incidenten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Vroegtijdige waarschuwing &lt; 24u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2 / 2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Volledige melding &lt; 72u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1 / 2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Eindrapport &lt; 1 maand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2 / 2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Open verbeterpunten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96000" y="3060000"/>
            <a:ext cx="109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92400E"/>
                </a:solidFill>
                <a:latin typeface="Calibri"/>
              </a:rPr>
              <a:t>Aandachtspunt: één melding overschreed de 72-uurstermijn — verbeterpunt opgenomen in het actieplan.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Prioriteiten komend half jaar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5400000" cy="324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1044000"/>
            <a:ext cx="540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440000"/>
            <a:ext cx="5400000" cy="61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1494000"/>
            <a:ext cx="518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C2E"/>
                </a:solidFill>
                <a:latin typeface="Calibri"/>
              </a:rPr>
              <a:t>MFA op alle resterende systemen
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CISO · €1.500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2124000"/>
            <a:ext cx="5400000" cy="61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000" y="2178000"/>
            <a:ext cx="518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C2E"/>
                </a:solidFill>
                <a:latin typeface="Calibri"/>
              </a:rPr>
              <a:t>Maandelijkse back-up hersteltest
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IT-beheer · €0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6000" y="1044000"/>
            <a:ext cx="5400000" cy="324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6000" y="1044000"/>
            <a:ext cx="540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6000" y="1440000"/>
            <a:ext cx="5400000" cy="61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4000" y="1494000"/>
            <a:ext cx="518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C2E"/>
                </a:solidFill>
                <a:latin typeface="Calibri"/>
              </a:rPr>
              <a:t>Top-10 leveranciers beoordelen
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Inkoop · €0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2124000"/>
            <a:ext cx="5400000" cy="61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4000" y="2178000"/>
            <a:ext cx="518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C1C2E"/>
                </a:solidFill>
                <a:latin typeface="Calibri"/>
              </a:rPr>
              <a:t>Compliancedossier M7 compleet
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CISO · €0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INVESTERING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Wat kost NIS2-compliance? — voor de CFO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" y="1044000"/>
          <a:ext cx="10980000" cy="1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0"/>
                <a:gridCol w="3420000"/>
                <a:gridCol w="1800000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Investeringscategorie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Indicatieve kosten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Prioriteit</a:t>
                      </a:r>
                    </a:p>
                  </a:txBody>
                  <a:tcPr marL="64800" marR="43200" marT="21600" marB="21600" anchor="ctr">
                    <a:solidFill>
                      <a:srgbClr val="1C1C2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Quick wins (MFA, patching, back-up)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€0 – €2.000 / jaar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Governance &amp; proces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€0 – €3.000 / jaar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15803D"/>
                          </a:solidFill>
                          <a:latin typeface="Calibri"/>
                        </a:rPr>
                        <a:t>● Groen</a:t>
                      </a:r>
                    </a:p>
                  </a:txBody>
                  <a:tcPr marL="64800" marR="43200" marT="21600" marB="21600" anchor="ctr">
                    <a:solidFill>
                      <a:srgbClr val="DCFCE7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Technische maatregelen (EDR, SIEM)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€1.000 – €60.000 / jaar</a:t>
                      </a:r>
                    </a:p>
                  </a:txBody>
                  <a:tcPr marL="64800" marR="432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Externe validatie (pentest, audit)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74151"/>
                          </a:solidFill>
                          <a:latin typeface="Calibri"/>
                        </a:rPr>
                        <a:t>€3.000 – €15.000 / jaar</a:t>
                      </a:r>
                    </a:p>
                  </a:txBody>
                  <a:tcPr marL="64800" marR="43200" marT="21600" marB="216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>
                          <a:solidFill>
                            <a:srgbClr val="92400E"/>
                          </a:solidFill>
                          <a:latin typeface="Calibri"/>
                        </a:rPr>
                        <a:t>▲ Amber</a:t>
                      </a:r>
                    </a:p>
                  </a:txBody>
                  <a:tcPr marL="64800" marR="43200" marT="21600" marB="21600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96000" y="2988000"/>
            <a:ext cx="10980000" cy="684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3078000"/>
            <a:ext cx="10692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C1C2E"/>
                </a:solidFill>
                <a:latin typeface="Calibri"/>
              </a:rPr>
              <a:t>Geraamd totaalbudget 2026: €18.500.   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Kostenanker: externe quickscan </a:t>
            </a:r>
            <a:r>
              <a:rPr sz="1400" b="1" i="0">
                <a:solidFill>
                  <a:srgbClr val="DC2626"/>
                </a:solidFill>
                <a:latin typeface="Calibri"/>
              </a:rPr>
              <a:t>€2.000–€5.000 eenmalig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 · deze toolkit </a:t>
            </a:r>
            <a:r>
              <a:rPr sz="1400" b="1" i="0">
                <a:solidFill>
                  <a:srgbClr val="15803D"/>
                </a:solidFill>
                <a:latin typeface="Calibri"/>
              </a:rPr>
              <a:t>vanaf €49</a:t>
            </a:r>
            <a:r>
              <a:rPr sz="1400" b="0" i="0">
                <a:solidFill>
                  <a:srgbClr val="374151"/>
                </a:solidFill>
                <a:latin typeface="Calibri"/>
              </a:rPr>
              <a:t> (excl. btw).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BESLUITVORMING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Gevraagde besluiten van het bestuur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044000"/>
            <a:ext cx="108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374151"/>
                </a:solidFill>
                <a:latin typeface="Calibri"/>
              </a:rPr>
              <a:t>Het bestuur wordt gevraagd te besluiten over (Art. 20 — goedkeuring &amp; toezicht):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404000"/>
            <a:ext cx="288000" cy="2880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40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404000"/>
            <a:ext cx="1044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Goedkeuring van het geactualiseerde risicobeheer en de maatregelen (Art. 20).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944000"/>
            <a:ext cx="288000" cy="2880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000" y="194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1944000"/>
            <a:ext cx="1044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Vrijgave van €18.500 budget voor 2026 (zie Investering).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" y="2484000"/>
            <a:ext cx="288000" cy="2880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000" y="248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2484000"/>
            <a:ext cx="1044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Acceptatie van restrisico R-04 (datalek) na de geplande access reviews.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" y="3024000"/>
            <a:ext cx="288000" cy="2880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302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3024000"/>
            <a:ext cx="1044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374151"/>
                </a:solidFill>
                <a:latin typeface="Calibri"/>
              </a:rPr>
              <a:t>Bevestiging van de bestuurlijke bewustzijnsverklaring (los document V1).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234000"/>
            <a:ext cx="86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CA3AF"/>
                </a:solidFill>
                <a:latin typeface="Calibri"/>
              </a:rPr>
              <a:t>BIJLAGE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413999"/>
            <a:ext cx="93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C1C2E"/>
                </a:solidFill>
                <a:latin typeface="Calibri"/>
              </a:rPr>
              <a:t>Methodologie, bronnen &amp; disclaimer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882000"/>
            <a:ext cx="10980000" cy="12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000" y="216000"/>
            <a:ext cx="1044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9CA3AF"/>
                </a:solidFill>
                <a:latin typeface="Calibri"/>
              </a:rPr>
              <a:t>uw 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080000"/>
            <a:ext cx="10980000" cy="18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•  </a:t>
            </a:r>
            <a:r>
              <a:rPr sz="1400">
                <a:solidFill>
                  <a:srgbClr val="374151"/>
                </a:solidFill>
                <a:latin typeface="Calibri"/>
              </a:rPr>
              <a:t>Bronnen: Gap-Analyse (volwassenheid %), Risicoregister R1 (top-risico's), Incidentenlog R4, Dreigingscatalogus.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•  </a:t>
            </a:r>
            <a:r>
              <a:rPr sz="1400">
                <a:solidFill>
                  <a:srgbClr val="374151"/>
                </a:solidFill>
                <a:latin typeface="Calibri"/>
              </a:rPr>
              <a:t>Volwassenheid is indicatief (Groen=100% · Amber=50% · Rood=0%, gemiddeld over M1–M8) — geen formeel CMMI/ISO-model.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•  </a:t>
            </a:r>
            <a:r>
              <a:rPr sz="1400">
                <a:solidFill>
                  <a:srgbClr val="374151"/>
                </a:solidFill>
                <a:latin typeface="Calibri"/>
              </a:rPr>
              <a:t>Scope: NIS2-richtlijn (EU) 2022/2555, in Nederland de Cyberbeveiligingswet (Cbw).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•  </a:t>
            </a:r>
            <a:r>
              <a:rPr sz="1400">
                <a:solidFill>
                  <a:srgbClr val="374151"/>
                </a:solidFill>
                <a:latin typeface="Calibri"/>
              </a:rPr>
              <a:t>Periode en cijfers in deze rapportage zijn een FICTIEF voorbeeld (Voorbeeld B.V.) — vervang door uw eigen gegevens.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3096000"/>
            <a:ext cx="10980000" cy="57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999" y="3168000"/>
            <a:ext cx="1076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92400E"/>
                </a:solidFill>
                <a:latin typeface="Calibri"/>
              </a:rPr>
              <a:t>Disclaimer: </a:t>
            </a:r>
            <a:r>
              <a:rPr sz="1100" b="0" i="0">
                <a:solidFill>
                  <a:srgbClr val="374151"/>
                </a:solidFill>
                <a:latin typeface="Calibri"/>
              </a:rPr>
              <a:t>zelfrapportage o.b.v. de NIS2 Compliance Toolkit. Geen juridisch advies of onafhankelijke audit. Raadpleeg bij twijfel een gekwalificeerd adviseur of de toezichthouder.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9CA3AF"/>
                </a:solidFill>
                <a:latin typeface="Calibri"/>
              </a:rPr>
              <a:t>Vertrouwelijk · MKBTechGids NIS2 Boardrapportage · </a:t>
            </a:r>
            <a:r>
              <a:rPr sz="800" b="0" i="1">
                <a:solidFill>
                  <a:srgbClr val="9CA3AF"/>
                </a:solidFill>
                <a:latin typeface="Calibri"/>
              </a:rPr>
              <a:t>Voorbeeld B.V. (voorbeeld)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2000" y="6516000"/>
            <a:ext cx="64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1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872000"/>
            <a:ext cx="93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1C1C2E"/>
                </a:solidFill>
                <a:latin typeface="Calibri"/>
              </a:rPr>
              <a:t>Besluiten &amp; vervolg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556000"/>
            <a:ext cx="9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374151"/>
                </a:solidFill>
                <a:latin typeface="Calibri"/>
              </a:rPr>
              <a:t>Volgende directiereview: Q4 2026 (Module 8 — Jaarlijkse Review).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916000"/>
            <a:ext cx="9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D4ED8"/>
                </a:solidFill>
                <a:latin typeface="Calibri"/>
              </a:rPr>
              <a:t>info@mkbtechgids.nl  ·  mkbtechgids.nl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6246000"/>
            <a:ext cx="100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MKBTechGids · KVK 27348456 · BTW NL004968309B61 · Brielle, Nederland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