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NIS2 COMPLIANCE  ·  BOARDRAPPORTAGE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000"/>
            <a:ext cx="936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C1C2E"/>
                </a:solidFill>
                <a:latin typeface="Calibri"/>
              </a:rPr>
              <a:t>NIS2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951999"/>
            <a:ext cx="93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374151"/>
                </a:solidFill>
                <a:latin typeface="Calibri"/>
              </a:rPr>
              <a:t>Status &amp; verantwoording aan het bestuur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671999"/>
            <a:ext cx="936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13F12"/>
                </a:solidFill>
                <a:latin typeface="Calibri"/>
              </a:rPr>
              <a:t>{{BEDRIJFSNAAM}}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   ·   Periode: </a:t>
            </a:r>
            <a:r>
              <a:rPr sz="1600" b="1" i="0">
                <a:solidFill>
                  <a:srgbClr val="713F12"/>
                </a:solidFill>
                <a:latin typeface="Calibri"/>
              </a:rPr>
              <a:t>{{PERIODE}}</a:t>
            </a:r>
            <a:r>
              <a:rPr sz="1600" b="0" i="0">
                <a:solidFill>
                  <a:srgbClr val="6B7280"/>
                </a:solidFill>
                <a:latin typeface="Calibri"/>
              </a:rPr>
              <a:t>   ·   </a:t>
            </a:r>
            <a:r>
              <a:rPr sz="1600" b="1" i="0">
                <a:solidFill>
                  <a:srgbClr val="713F12"/>
                </a:solidFill>
                <a:latin typeface="Calibri"/>
              </a:rPr>
              <a:t>{{DATUM}}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24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MANAGEMENTSAMENVATTING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Kernboodschap aan het bestuur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080000"/>
            <a:ext cx="2628000" cy="972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188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NIS2-volwassenheid · Gap-Analyse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475999"/>
            <a:ext cx="23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D4ED8"/>
                </a:solidFill>
                <a:latin typeface="Calibri"/>
              </a:rPr>
              <a:t>{{XX}}%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6000" y="1080000"/>
            <a:ext cx="2628000" cy="9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0000" y="1188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Open gaps — prioriteit Hoog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0000" y="1475999"/>
            <a:ext cx="23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DC2626"/>
                </a:solidFill>
                <a:latin typeface="Calibri"/>
              </a:rPr>
              <a:t>{{X}}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080000"/>
            <a:ext cx="2628000" cy="972000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0" y="1188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Incidenten deze periode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1475999"/>
            <a:ext cx="23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92400E"/>
                </a:solidFill>
                <a:latin typeface="Calibri"/>
              </a:rPr>
              <a:t>{{X}}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6000" y="1080000"/>
            <a:ext cx="2628000" cy="9720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0000" y="1188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Volgende review (M8)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0000" y="1475999"/>
            <a:ext cx="23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5803D"/>
                </a:solidFill>
                <a:latin typeface="Calibri"/>
              </a:rPr>
              <a:t>{{DATUM}}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2196000"/>
            <a:ext cx="108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C1C2E"/>
                </a:solidFill>
                <a:latin typeface="Calibri"/>
              </a:rPr>
              <a:t>Belangrijkste boodschappen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2448000"/>
            <a:ext cx="10980000" cy="162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 b="1">
                <a:solidFill>
                  <a:srgbClr val="713F12"/>
                </a:solidFill>
                <a:latin typeface="Calibri"/>
              </a:rPr>
              <a:t>{{Samenvatting van de cyberweerbaarheid en de belangrijkste ontwikkelingen deze periode.}}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 b="1">
                <a:solidFill>
                  <a:srgbClr val="713F12"/>
                </a:solidFill>
                <a:latin typeface="Calibri"/>
              </a:rPr>
              <a:t>{{Grootste resterende risico's / gaps en het voorstel om deze te mitigeren.}}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 b="1">
                <a:solidFill>
                  <a:srgbClr val="713F12"/>
                </a:solidFill>
                <a:latin typeface="Calibri"/>
              </a:rPr>
              <a:t>{{Benodigde besluiten, middelen of budget van het bestuur (zie slide Gevraagde besluiten).}}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" y="4068000"/>
            <a:ext cx="109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4151"/>
                </a:solidFill>
                <a:latin typeface="Calibri"/>
              </a:rPr>
              <a:t>Bron van de cijfers: 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Gap-Analyse (dashboard %), R1 Risicoregister, R4 Incidentenlog. Elke {{...}} verwijst naar één registercel.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COMPLIANCE-STATUS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Status per NIS2-domein (Modules 1–8)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080000"/>
          <a:ext cx="10980000" cy="252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0000"/>
                <a:gridCol w="5220000"/>
                <a:gridCol w="1980000"/>
              </a:tblGrid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Domein / Module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Toelichting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M1 · Scope &amp; zelfevaluatie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M2 · Risicoanalyse + register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M3 · Beveiligingsmaatregelen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M4 · Leveranciersbeveiliging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M5 · Bedrijfscontinuïteit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M6 · Medewerkers &amp; training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M7 · Documentatie &amp; logging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72000" marR="54000" marT="28800" marB="28800" anchor="ctr">
                    <a:solidFill>
                      <a:srgbClr val="FEF2F2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M8 · Jaarlijkse review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{{kort}}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3816000"/>
            <a:ext cx="10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74151"/>
                </a:solidFill>
                <a:latin typeface="Calibri"/>
              </a:rPr>
              <a:t>RAG: </a:t>
            </a:r>
            <a:r>
              <a:rPr sz="1000" b="1" i="0">
                <a:solidFill>
                  <a:srgbClr val="15803D"/>
                </a:solidFill>
                <a:latin typeface="Calibri"/>
              </a:rPr>
              <a:t>● Groen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= op orde   </a:t>
            </a:r>
            <a:r>
              <a:rPr sz="1000" b="1" i="0">
                <a:solidFill>
                  <a:srgbClr val="92400E"/>
                </a:solidFill>
                <a:latin typeface="Calibri"/>
              </a:rPr>
              <a:t>▲ Amber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= aandacht   </a:t>
            </a:r>
            <a:r>
              <a:rPr sz="1000" b="1" i="0">
                <a:solidFill>
                  <a:srgbClr val="DC2626"/>
                </a:solidFill>
                <a:latin typeface="Calibri"/>
              </a:rPr>
              <a:t>■ Rood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 = actie vereist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RISICO-OVERZICHT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Belangrijkste risico's (uit het Risicoregister)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080000"/>
          <a:ext cx="1098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0000"/>
                <a:gridCol w="1440000"/>
                <a:gridCol w="3240000"/>
                <a:gridCol w="180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Risico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Score W×I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Maatregel / eigenaar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{{Top-risico 1}}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{{W×I}}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{{maatregel}}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72000" marR="54000" marT="28800" marB="28800" anchor="ctr">
                    <a:solidFill>
                      <a:srgbClr val="FE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{{Top-risico 2}}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{{W×I}}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{{maatregel}}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{{Top-risico 3}}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{{W×I}}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{{maatregel}}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{{Top-risico 4}}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{{W×I}}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{{maatregel}}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3096000"/>
            <a:ext cx="109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Vul de hoogst gescoorde risico's uit R1-Risicoregister in. Koppel elke regel aan een beheersmaatregel (Beheersmaatregelkaart) en een eigenaar.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INCIDENTEN &amp; MELDPLICHT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Meldplicht-prestatie deze periode (Art. 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080000"/>
          <a:ext cx="10980000" cy="194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0"/>
                <a:gridCol w="3240000"/>
                <a:gridCol w="1980000"/>
              </a:tblGrid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Deze periode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Significante incidenten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{{X}}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Vroegtijdige waarschuwing &lt; 24u gehaald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{{X/X}}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Volledige melding &lt; 72u gehaald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{{X/X}}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Eindrapport &lt; 1 maand gehaald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{{X/X}}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Openstaande verbeterpunten uit incidenten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{{X}}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ACTIEPLAN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Prioriteiten komend kwartaal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080000"/>
          <a:ext cx="1098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0"/>
                <a:gridCol w="1980000"/>
                <a:gridCol w="1800000"/>
                <a:gridCol w="1620000"/>
                <a:gridCol w="162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Actie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Eigenaar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Kosten (ind.)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Deadline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{{Actie 1}}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{{naam}}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{{€}}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{{datum}}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{{Actie 2}}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{{naam}}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{{€}}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{{datum}}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{{Actie 3}}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{{naam}}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{{€}}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{{datum}}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72000" marR="54000" marT="28800" marB="28800" anchor="ctr">
                    <a:solidFill>
                      <a:srgbClr val="FE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{{Actie 4}}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{{naam}}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{{€}}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13F12"/>
                          </a:solidFill>
                          <a:latin typeface="Calibri"/>
                        </a:rPr>
                        <a:t>{{datum}}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3096000"/>
            <a:ext cx="109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Kostenindicaties: ontleen ze aan de Beheersmaatregelkaart (kolom Kosten).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INVESTERING &amp; PRIORITEIT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Wat kost NIS2-compliance? — overzicht voor de CFO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080000"/>
          <a:ext cx="1098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60000"/>
                <a:gridCol w="2520000"/>
                <a:gridCol w="2160000"/>
                <a:gridCol w="144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Investeringscategorie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Indicatieve kosten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Doorlooptijd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Prioriteit</a:t>
                      </a:r>
                    </a:p>
                  </a:txBody>
                  <a:tcPr marL="72000" marR="54000" marT="28800" marB="28800" anchor="ctr">
                    <a:solidFill>
                      <a:srgbClr val="1C1C2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Quick wins (MFA, patching, back-up, awareness)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€0 – €2.000 / jaar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dagen – weken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Governance &amp; proces (beleid, IR-plan, reviews)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€0 – €3.000 / jaar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dagen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72000" marR="54000" marT="28800" marB="28800" anchor="ctr">
                    <a:solidFill>
                      <a:srgbClr val="DCFCE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Technische maatregelen (EDR, segmentatie, SIEM)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€1.000 – €60.000 / jaar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weken – maanden</a:t>
                      </a:r>
                    </a:p>
                  </a:txBody>
                  <a:tcPr marL="72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Externe validatie (pentest, audit)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€3.000 – €15.000 / jaar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jaarlijks</a:t>
                      </a:r>
                    </a:p>
                  </a:txBody>
                  <a:tcPr marL="72000" marR="54000" marT="28800" marB="2880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72000" marR="54000" marT="28800" marB="288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96000" y="3024000"/>
            <a:ext cx="10980000" cy="684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150000"/>
            <a:ext cx="1062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C2E"/>
                </a:solidFill>
                <a:latin typeface="Calibri"/>
              </a:rPr>
              <a:t>Kostenanker:  </a:t>
            </a:r>
            <a:r>
              <a:rPr sz="1300" b="0" i="0">
                <a:solidFill>
                  <a:srgbClr val="374151"/>
                </a:solidFill>
                <a:latin typeface="Calibri"/>
              </a:rPr>
              <a:t>externe NIS2-quickscan / consultant </a:t>
            </a:r>
            <a:r>
              <a:rPr sz="1300" b="1" i="0">
                <a:solidFill>
                  <a:srgbClr val="DC2626"/>
                </a:solidFill>
                <a:latin typeface="Calibri"/>
              </a:rPr>
              <a:t>€2.000 – €5.000 eenmalig</a:t>
            </a:r>
            <a:r>
              <a:rPr sz="1300" b="0" i="0">
                <a:solidFill>
                  <a:srgbClr val="374151"/>
                </a:solidFill>
                <a:latin typeface="Calibri"/>
              </a:rPr>
              <a:t>   ·   deze toolkit </a:t>
            </a:r>
            <a:r>
              <a:rPr sz="1300" b="1" i="0">
                <a:solidFill>
                  <a:srgbClr val="15803D"/>
                </a:solidFill>
                <a:latin typeface="Calibri"/>
              </a:rPr>
              <a:t>vanaf €49</a:t>
            </a:r>
            <a:r>
              <a:rPr sz="1300" b="0" i="0">
                <a:solidFill>
                  <a:srgbClr val="374151"/>
                </a:solidFill>
                <a:latin typeface="Calibri"/>
              </a:rPr>
              <a:t>  (excl. btw).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3816000"/>
            <a:ext cx="109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74151"/>
                </a:solidFill>
                <a:latin typeface="Calibri"/>
              </a:rPr>
              <a:t>Geraamd totaalbudget {{jaar}}: </a:t>
            </a:r>
            <a:r>
              <a:rPr sz="1200" b="1" i="0">
                <a:solidFill>
                  <a:srgbClr val="713F12"/>
                </a:solidFill>
                <a:latin typeface="Calibri"/>
              </a:rPr>
              <a:t>{{€ totaalraming — som van de maatregelen uit de Beheersmaatregelkaart}}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51999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GEVRAAGDE BESLUITEN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32000"/>
            <a:ext cx="1008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C1C2E"/>
                </a:solidFill>
                <a:latin typeface="Calibri"/>
              </a:rPr>
              <a:t>Besluitvorming door het bestuur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900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080000"/>
            <a:ext cx="108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Calibri"/>
              </a:rPr>
              <a:t>Het bestuur wordt gevraagd te besluiten over (Art. 20 — goedkeuring &amp; toezicht):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04000"/>
            <a:ext cx="10980000" cy="21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Goedkeuring van het geactualiseerde NIS2-risicobeheer en de maatregelen.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>
                <a:solidFill>
                  <a:srgbClr val="713F12"/>
                </a:solidFill>
                <a:latin typeface="Calibri"/>
              </a:rPr>
              <a:t>{{Vrijgave van budget / middelen voor: ...}}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>
                <a:solidFill>
                  <a:srgbClr val="713F12"/>
                </a:solidFill>
                <a:latin typeface="Calibri"/>
              </a:rPr>
              <a:t>{{Acceptatie of mitigatie van de resterende restrisico's: ...}}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Bevestiging van de bestuurlijke bewustzijnsverklaring (zie los document V1).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>
                <a:solidFill>
                  <a:srgbClr val="713F12"/>
                </a:solidFill>
                <a:latin typeface="Calibri"/>
              </a:rPr>
              <a:t>{{Overige besluiten: ...}}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6498000"/>
            <a:ext cx="93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 · mkbtechgids.nl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2000" y="6498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44000"/>
            <a:ext cx="93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C1C2E"/>
                </a:solidFill>
                <a:latin typeface="Calibri"/>
              </a:rPr>
              <a:t>Vragen of verdieping?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592000"/>
            <a:ext cx="9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374151"/>
                </a:solidFill>
                <a:latin typeface="Calibri"/>
              </a:rPr>
              <a:t>Deze rapportage is onderdeel van de MKBTechGids NIS2 Compliance Toolkit.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951999"/>
            <a:ext cx="9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D4ED8"/>
                </a:solidFill>
                <a:latin typeface="Calibri"/>
              </a:rPr>
              <a:t>info@mkbtechgids.nl  ·  mkbtechgids.nl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5922000"/>
            <a:ext cx="1026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92400E"/>
                </a:solidFill>
                <a:latin typeface="Calibri"/>
              </a:rPr>
              <a:t>Disclaimer: 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zelfrapportage o.b.v. de NIS2 Compliance Toolkit (NIS2-richtlijn EU 2022/2555 / NL Cyberbeveiligingswet). Geen juridisch advies of onafhankelijke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24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MKBTechGids · KVK 27348456 · BTW NL004968309B61 · Brielle, Nederland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